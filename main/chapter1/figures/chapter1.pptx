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0"/>
    <p:restoredTop sz="94941"/>
  </p:normalViewPr>
  <p:slideViewPr>
    <p:cSldViewPr snapToGrid="0" snapToObjects="1">
      <p:cViewPr>
        <p:scale>
          <a:sx n="293" d="100"/>
          <a:sy n="293" d="100"/>
        </p:scale>
        <p:origin x="-3128" y="-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82C55-8139-2444-BC47-4E85BBC54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C5B759-C242-6B4B-B312-C39FEADB4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491ED-7A2B-DA43-AF85-B39EF364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CCC9D-600A-2F47-AD14-5F52BCF6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93F696-14E1-8E40-9030-1361C7C7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202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2A7C1-D668-EA41-8031-3A0C928F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F67FB-1A45-5048-9661-CEC231FA1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1A41CB-6C7B-8E40-81C5-2FC268C1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860A9E-441D-5043-B0A4-37C0618F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D9A79-79E1-A544-9A6C-97400CDE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271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D31AA-53C9-BC44-8534-5194DAD34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83C96A-06A9-174D-9F60-2ECDAED7A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5A170-22B9-BC42-8559-3F13B0AF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293B53-D306-8348-ACFA-1B9DCEDE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B7CF95-B509-F04C-BBC0-12F6482E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393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3E1C1-5959-2843-9366-CC04A465B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90027-DBA1-0947-B7E6-E0446CC32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D7CA77-A461-254A-AD59-79A048CCA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0DD47A-63E2-3F4A-BEE4-A5B68FEA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14E9DF-D32E-B940-BEC9-653F5EF66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6B226E-CFE9-0B45-BC70-F9444BEE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956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25C9B-DFF8-294D-AE13-44FE077D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883FA5-E4F0-D441-A4B3-3CFA013D0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032A5A-BAFE-C240-8DA5-B99ABD3A8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DC06F4-672A-B94F-8E8D-C3F3F5957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838DC3-A5E3-754F-A702-5FC95306A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29BB34-F0F7-A840-B2AC-4E594C2E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343318-40C6-7145-8689-38314F0E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CCD60E-8033-9941-8507-4810D1E7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108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139D1-E8A6-684F-B80C-AD18EB2D4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82016E-535B-1343-BB11-95F36625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D395B5-7BB7-FE47-8F02-E1BB00F8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5594DD-3814-5D4E-8D8B-A269CCD6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20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4014CC-B868-6442-A86C-96E17A8F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998723-E720-B94B-BA82-21DBBF76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7B7C8-66EA-4D47-9BEB-958F5B06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407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3C2FD-509C-2E4C-9825-93FB35A9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A3C74-8D85-1E43-82EF-238550EEC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96A2E-20F8-6145-8FBD-8552932B2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A9C5FC-1C5F-EE4E-9C53-FE5F44B5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7060B-90A1-204A-B50B-0DD6BFDB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C8FC30-CCF6-2941-A591-F6ADBBC3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373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6EC58-6FC4-9B41-836F-00462BEE4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930DF2-30F6-7544-9C08-3BDE784BA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41647B-D3EA-3644-AA7A-BBC4AA0EF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552D2-3159-9349-B452-8B56F5F3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1EB720-FC10-F545-A2A6-E62987C1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EE7EAB-EE5C-1E44-8AE4-E00B6F86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877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6FBDCF-C812-8548-898B-21194860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FCA518-A8EB-BE40-894E-3AFC39025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93058E-36ED-A04E-AFFD-4E8ADFFF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B9AF0B-8494-9642-BD9E-9009EE61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73043A-B654-5843-A95F-6C09903D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983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4ED686-339F-0C40-B445-F423E3241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A370AE-97E6-4E45-8FEE-7484BE3E4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72886-B12F-0142-8691-15CED467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93450E-0B8E-5B41-B547-E9591123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04A2BA-E4B4-8546-ABB2-D880B00B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432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E6C8F5-2169-8F48-B99F-6FF69C6B1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B4B93E-B26D-5345-A02F-4CDBD4588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C8397-E8D5-2247-A4D9-ACB9F5835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69FB2-7BD2-D646-BFBD-5C1D555F6E84}" type="datetimeFigureOut">
              <a:rPr kumimoji="1" lang="zh-CN" altLang="en-US" smtClean="0"/>
              <a:t>2026/4/11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4A7C66-1344-5842-A5E5-EB87C46D8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2F885-70FD-A34C-8875-9E6083FC4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8BE61-E3B9-9D46-8365-6FF0B31DB2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015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5940F06E-4D47-184F-8EF4-77BAB8B41B60}"/>
              </a:ext>
            </a:extLst>
          </p:cNvPr>
          <p:cNvGrpSpPr/>
          <p:nvPr/>
        </p:nvGrpSpPr>
        <p:grpSpPr>
          <a:xfrm>
            <a:off x="3790241" y="1543093"/>
            <a:ext cx="1306525" cy="815710"/>
            <a:chOff x="6440852" y="2126604"/>
            <a:chExt cx="5255404" cy="3118944"/>
          </a:xfrm>
        </p:grpSpPr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F7EF7C6A-B617-C347-B2CD-A40683ADF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40852" y="2211495"/>
              <a:ext cx="2620590" cy="2762186"/>
            </a:xfrm>
            <a:prstGeom prst="rect">
              <a:avLst/>
            </a:prstGeom>
            <a:noFill/>
            <a:ln w="12700">
              <a:solidFill>
                <a:srgbClr val="0070C0"/>
              </a:solidFill>
            </a:ln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7066BF8F-74A8-EB41-B4F1-F08A723445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931"/>
            <a:stretch/>
          </p:blipFill>
          <p:spPr>
            <a:xfrm>
              <a:off x="9280802" y="2126604"/>
              <a:ext cx="2415454" cy="3118944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54" name="矩形: 圆角 97">
              <a:extLst>
                <a:ext uri="{FF2B5EF4-FFF2-40B4-BE49-F238E27FC236}">
                  <a16:creationId xmlns:a16="http://schemas.microsoft.com/office/drawing/2014/main" id="{AB84F1CF-DADE-634C-BCBA-1C73FFC49C2B}"/>
                </a:ext>
              </a:extLst>
            </p:cNvPr>
            <p:cNvSpPr/>
            <p:nvPr/>
          </p:nvSpPr>
          <p:spPr>
            <a:xfrm>
              <a:off x="10274717" y="2552522"/>
              <a:ext cx="777600" cy="78281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</a:endParaRPr>
            </a:p>
          </p:txBody>
        </p:sp>
        <p:cxnSp>
          <p:nvCxnSpPr>
            <p:cNvPr id="55" name="直接箭头连接符 102">
              <a:extLst>
                <a:ext uri="{FF2B5EF4-FFF2-40B4-BE49-F238E27FC236}">
                  <a16:creationId xmlns:a16="http://schemas.microsoft.com/office/drawing/2014/main" id="{BBC3491B-ECE9-C64F-96D4-65A93E94D5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81502" y="2202485"/>
              <a:ext cx="1193217" cy="350037"/>
            </a:xfrm>
            <a:prstGeom prst="straightConnector1">
              <a:avLst/>
            </a:prstGeom>
            <a:ln w="12700"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103">
              <a:extLst>
                <a:ext uri="{FF2B5EF4-FFF2-40B4-BE49-F238E27FC236}">
                  <a16:creationId xmlns:a16="http://schemas.microsoft.com/office/drawing/2014/main" id="{C61BC30C-1028-B347-9D19-30421F9C0F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1502" y="3335341"/>
              <a:ext cx="1193217" cy="1644147"/>
            </a:xfrm>
            <a:prstGeom prst="straightConnector1">
              <a:avLst/>
            </a:prstGeom>
            <a:ln w="12700"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F1B9B00-E679-5C41-86AD-C737D66603C6}"/>
              </a:ext>
            </a:extLst>
          </p:cNvPr>
          <p:cNvSpPr/>
          <p:nvPr/>
        </p:nvSpPr>
        <p:spPr>
          <a:xfrm>
            <a:off x="2487961" y="873746"/>
            <a:ext cx="5284454" cy="366804"/>
          </a:xfrm>
          <a:prstGeom prst="rect">
            <a:avLst/>
          </a:prstGeom>
          <a:solidFill>
            <a:srgbClr val="CCE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</a:rPr>
              <a:t>基于几何先验的三维人体重建与服装生成研究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393ACC-2B3D-7F4F-AD4A-044CA23FE5BA}"/>
              </a:ext>
            </a:extLst>
          </p:cNvPr>
          <p:cNvSpPr/>
          <p:nvPr/>
        </p:nvSpPr>
        <p:spPr>
          <a:xfrm>
            <a:off x="2487961" y="1308075"/>
            <a:ext cx="2608805" cy="122390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4BE2BC-AAC4-3A49-B74B-0D1D2E7379DA}"/>
              </a:ext>
            </a:extLst>
          </p:cNvPr>
          <p:cNvSpPr txBox="1"/>
          <p:nvPr/>
        </p:nvSpPr>
        <p:spPr>
          <a:xfrm>
            <a:off x="2186953" y="1434855"/>
            <a:ext cx="360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/>
              <a:t>问题</a:t>
            </a:r>
            <a:endParaRPr kumimoji="1" lang="en-US" altLang="zh-CN" sz="1200" b="1" dirty="0"/>
          </a:p>
          <a:p>
            <a:r>
              <a:rPr kumimoji="1" lang="zh-CN" altLang="en-US" sz="1200" b="1" dirty="0"/>
              <a:t>挑战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57DD94-4954-BF43-B48A-41C650F63B56}"/>
              </a:ext>
            </a:extLst>
          </p:cNvPr>
          <p:cNvSpPr/>
          <p:nvPr/>
        </p:nvSpPr>
        <p:spPr>
          <a:xfrm>
            <a:off x="5162416" y="1309977"/>
            <a:ext cx="2610000" cy="122010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F2C1C8-152A-4A4B-975E-0B0A305CDE75}"/>
              </a:ext>
            </a:extLst>
          </p:cNvPr>
          <p:cNvSpPr txBox="1"/>
          <p:nvPr/>
        </p:nvSpPr>
        <p:spPr>
          <a:xfrm>
            <a:off x="2160773" y="2644485"/>
            <a:ext cx="33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/>
              <a:t>思路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436BA9-BD19-0D44-94E4-6CABAD57EF37}"/>
              </a:ext>
            </a:extLst>
          </p:cNvPr>
          <p:cNvSpPr txBox="1"/>
          <p:nvPr/>
        </p:nvSpPr>
        <p:spPr>
          <a:xfrm>
            <a:off x="2175378" y="3651005"/>
            <a:ext cx="296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/>
              <a:t>研究内容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1880DE-CE26-C944-8830-B479173C0A17}"/>
              </a:ext>
            </a:extLst>
          </p:cNvPr>
          <p:cNvSpPr txBox="1"/>
          <p:nvPr/>
        </p:nvSpPr>
        <p:spPr>
          <a:xfrm>
            <a:off x="2171233" y="4726049"/>
            <a:ext cx="344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/>
              <a:t>目标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9FAB68-41C5-F643-B9EC-D8A9F8D3BF11}"/>
              </a:ext>
            </a:extLst>
          </p:cNvPr>
          <p:cNvSpPr/>
          <p:nvPr/>
        </p:nvSpPr>
        <p:spPr>
          <a:xfrm>
            <a:off x="2495550" y="3289086"/>
            <a:ext cx="2595563" cy="13247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C3218C-46B2-9E4D-B09A-FCEDD9869CB3}"/>
              </a:ext>
            </a:extLst>
          </p:cNvPr>
          <p:cNvSpPr/>
          <p:nvPr/>
        </p:nvSpPr>
        <p:spPr>
          <a:xfrm>
            <a:off x="2506471" y="3302797"/>
            <a:ext cx="2579295" cy="388712"/>
          </a:xfrm>
          <a:prstGeom prst="rect">
            <a:avLst/>
          </a:prstGeom>
          <a:solidFill>
            <a:srgbClr val="CCE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b="1" dirty="0">
                <a:solidFill>
                  <a:schemeClr val="tx1"/>
                </a:solidFill>
              </a:rPr>
              <a:t>基于拓扑绑定的三维高斯人体重建</a:t>
            </a:r>
            <a:endParaRPr kumimoji="1" lang="en-US" altLang="zh-CN" sz="1050" b="1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1050" b="1" dirty="0">
                <a:solidFill>
                  <a:schemeClr val="tx1"/>
                </a:solidFill>
              </a:rPr>
              <a:t>（第三章）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5D0B37-0A39-954A-B868-84049DCAE970}"/>
              </a:ext>
            </a:extLst>
          </p:cNvPr>
          <p:cNvSpPr/>
          <p:nvPr/>
        </p:nvSpPr>
        <p:spPr>
          <a:xfrm>
            <a:off x="5166333" y="3289084"/>
            <a:ext cx="2606081" cy="132475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07A842C-0FEF-9048-ABCF-9BF35EE6971B}"/>
              </a:ext>
            </a:extLst>
          </p:cNvPr>
          <p:cNvSpPr/>
          <p:nvPr/>
        </p:nvSpPr>
        <p:spPr>
          <a:xfrm>
            <a:off x="5174993" y="3302380"/>
            <a:ext cx="2592397" cy="386636"/>
          </a:xfrm>
          <a:prstGeom prst="rect">
            <a:avLst/>
          </a:prstGeom>
          <a:solidFill>
            <a:srgbClr val="CCE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b="1" dirty="0">
                <a:solidFill>
                  <a:schemeClr val="tx1"/>
                </a:solidFill>
              </a:rPr>
              <a:t>基于人体测量先验的服装参数生成</a:t>
            </a:r>
            <a:endParaRPr kumimoji="1" lang="en-US" altLang="zh-CN" sz="1050" b="1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1050" b="1" dirty="0">
                <a:solidFill>
                  <a:schemeClr val="tx1"/>
                </a:solidFill>
              </a:rPr>
              <a:t>（第四章）</a:t>
            </a:r>
          </a:p>
        </p:txBody>
      </p:sp>
      <p:sp>
        <p:nvSpPr>
          <p:cNvPr id="2" name="下箭头 1">
            <a:extLst>
              <a:ext uri="{FF2B5EF4-FFF2-40B4-BE49-F238E27FC236}">
                <a16:creationId xmlns:a16="http://schemas.microsoft.com/office/drawing/2014/main" id="{B962EC26-32C1-FC42-8C36-D37DC5D8C4FF}"/>
              </a:ext>
            </a:extLst>
          </p:cNvPr>
          <p:cNvSpPr/>
          <p:nvPr/>
        </p:nvSpPr>
        <p:spPr>
          <a:xfrm>
            <a:off x="3680347" y="2552262"/>
            <a:ext cx="175767" cy="193473"/>
          </a:xfrm>
          <a:prstGeom prst="downArrow">
            <a:avLst>
              <a:gd name="adj1" fmla="val 50000"/>
              <a:gd name="adj2" fmla="val 4737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/>
          </a:p>
        </p:txBody>
      </p:sp>
      <p:sp>
        <p:nvSpPr>
          <p:cNvPr id="29" name="下箭头 28">
            <a:extLst>
              <a:ext uri="{FF2B5EF4-FFF2-40B4-BE49-F238E27FC236}">
                <a16:creationId xmlns:a16="http://schemas.microsoft.com/office/drawing/2014/main" id="{DEB98004-A16A-BC49-A85C-3E19B2EDB0AC}"/>
              </a:ext>
            </a:extLst>
          </p:cNvPr>
          <p:cNvSpPr/>
          <p:nvPr/>
        </p:nvSpPr>
        <p:spPr>
          <a:xfrm>
            <a:off x="6269706" y="2543567"/>
            <a:ext cx="178412" cy="19772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79F3E2-E958-3D4D-93EE-923E1DEF5168}"/>
              </a:ext>
            </a:extLst>
          </p:cNvPr>
          <p:cNvSpPr/>
          <p:nvPr/>
        </p:nvSpPr>
        <p:spPr>
          <a:xfrm>
            <a:off x="2495550" y="2769485"/>
            <a:ext cx="2595563" cy="27947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b="1" dirty="0">
                <a:solidFill>
                  <a:schemeClr val="tx1"/>
                </a:solidFill>
              </a:rPr>
              <a:t>人体几何提供</a:t>
            </a:r>
            <a:r>
              <a:rPr kumimoji="1" lang="zh-CN" altLang="en-US" sz="1100" b="1" dirty="0">
                <a:solidFill>
                  <a:srgbClr val="0070C0"/>
                </a:solidFill>
              </a:rPr>
              <a:t>拓扑结构约束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5DAFCAF-6247-3C4F-8EA7-DBECB725F6D7}"/>
              </a:ext>
            </a:extLst>
          </p:cNvPr>
          <p:cNvSpPr/>
          <p:nvPr/>
        </p:nvSpPr>
        <p:spPr>
          <a:xfrm>
            <a:off x="5159375" y="2756700"/>
            <a:ext cx="2628900" cy="29232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b="1" dirty="0">
                <a:solidFill>
                  <a:schemeClr val="tx1"/>
                </a:solidFill>
              </a:rPr>
              <a:t>人体几何提供</a:t>
            </a:r>
            <a:r>
              <a:rPr kumimoji="1" lang="zh-CN" altLang="en-US" sz="1100" b="1" dirty="0">
                <a:solidFill>
                  <a:srgbClr val="0070C0"/>
                </a:solidFill>
              </a:rPr>
              <a:t>测量信息先验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40A0DA6-A11F-5345-B458-6A425514CD44}"/>
              </a:ext>
            </a:extLst>
          </p:cNvPr>
          <p:cNvSpPr txBox="1"/>
          <p:nvPr/>
        </p:nvSpPr>
        <p:spPr>
          <a:xfrm>
            <a:off x="4444753" y="2529521"/>
            <a:ext cx="13311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050" b="1" dirty="0">
                <a:solidFill>
                  <a:schemeClr val="tx1"/>
                </a:solidFill>
              </a:rPr>
              <a:t>引入人体几何先验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3804F8B-075A-9440-AC49-21C41680CC31}"/>
              </a:ext>
            </a:extLst>
          </p:cNvPr>
          <p:cNvSpPr/>
          <p:nvPr/>
        </p:nvSpPr>
        <p:spPr>
          <a:xfrm>
            <a:off x="2495549" y="4826404"/>
            <a:ext cx="5292725" cy="30945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b="1" dirty="0">
                <a:solidFill>
                  <a:schemeClr val="tx1"/>
                </a:solidFill>
              </a:rPr>
              <a:t>构建</a:t>
            </a:r>
            <a:r>
              <a:rPr kumimoji="1" lang="zh-CN" altLang="en-US" sz="1050" b="1" dirty="0">
                <a:solidFill>
                  <a:srgbClr val="0070C0"/>
                </a:solidFill>
              </a:rPr>
              <a:t>可稳定驱动</a:t>
            </a:r>
            <a:r>
              <a:rPr kumimoji="1" lang="zh-CN" altLang="en-US" sz="1050" b="1" dirty="0">
                <a:solidFill>
                  <a:schemeClr val="tx1"/>
                </a:solidFill>
              </a:rPr>
              <a:t>、</a:t>
            </a:r>
            <a:r>
              <a:rPr kumimoji="1" lang="zh-CN" altLang="en-US" sz="1050" b="1" dirty="0">
                <a:solidFill>
                  <a:srgbClr val="0070C0"/>
                </a:solidFill>
              </a:rPr>
              <a:t>高保真</a:t>
            </a:r>
            <a:r>
              <a:rPr kumimoji="1" lang="zh-CN" altLang="en-US" sz="1050" b="1" dirty="0">
                <a:solidFill>
                  <a:schemeClr val="tx1"/>
                </a:solidFill>
              </a:rPr>
              <a:t>的虚拟数字人体化身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2289BAA-7E45-2344-88A0-988CC9999846}"/>
              </a:ext>
            </a:extLst>
          </p:cNvPr>
          <p:cNvGrpSpPr/>
          <p:nvPr/>
        </p:nvGrpSpPr>
        <p:grpSpPr>
          <a:xfrm>
            <a:off x="2497362" y="1517841"/>
            <a:ext cx="1226146" cy="807639"/>
            <a:chOff x="495743" y="2015272"/>
            <a:chExt cx="4951194" cy="3100047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D2CB6D52-9F28-5A4E-908D-57551DE37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4913" y="2187818"/>
              <a:ext cx="2622024" cy="2763699"/>
            </a:xfrm>
            <a:prstGeom prst="rect">
              <a:avLst/>
            </a:prstGeom>
            <a:noFill/>
            <a:ln w="12700">
              <a:solidFill>
                <a:srgbClr val="00B050"/>
              </a:solidFill>
            </a:ln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A1A0E5AC-B8B2-104D-A988-BED6BDBFF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743" y="2015272"/>
              <a:ext cx="2091184" cy="3100047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60" name="矩形: 圆角 98">
              <a:extLst>
                <a:ext uri="{FF2B5EF4-FFF2-40B4-BE49-F238E27FC236}">
                  <a16:creationId xmlns:a16="http://schemas.microsoft.com/office/drawing/2014/main" id="{B705052B-214B-814B-B0AD-3F286D916749}"/>
                </a:ext>
              </a:extLst>
            </p:cNvPr>
            <p:cNvSpPr/>
            <p:nvPr/>
          </p:nvSpPr>
          <p:spPr>
            <a:xfrm>
              <a:off x="1586528" y="2660644"/>
              <a:ext cx="653925" cy="67430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</a:endParaRPr>
            </a:p>
          </p:txBody>
        </p:sp>
        <p:cxnSp>
          <p:nvCxnSpPr>
            <p:cNvPr id="61" name="直接箭头连接符 8">
              <a:extLst>
                <a:ext uri="{FF2B5EF4-FFF2-40B4-BE49-F238E27FC236}">
                  <a16:creationId xmlns:a16="http://schemas.microsoft.com/office/drawing/2014/main" id="{D9AFC18D-56AF-B545-BEEE-F463B9DB6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058" y="2187817"/>
              <a:ext cx="616229" cy="479797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101">
              <a:extLst>
                <a:ext uri="{FF2B5EF4-FFF2-40B4-BE49-F238E27FC236}">
                  <a16:creationId xmlns:a16="http://schemas.microsoft.com/office/drawing/2014/main" id="{4C8B1E33-A367-CC48-BDBC-1BA28D7A3CAC}"/>
                </a:ext>
              </a:extLst>
            </p:cNvPr>
            <p:cNvCxnSpPr>
              <a:cxnSpLocks/>
            </p:cNvCxnSpPr>
            <p:nvPr/>
          </p:nvCxnSpPr>
          <p:spPr>
            <a:xfrm>
              <a:off x="2190058" y="3334952"/>
              <a:ext cx="616229" cy="1616565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7624DC93-E052-B144-8B84-60B733C43A62}"/>
              </a:ext>
            </a:extLst>
          </p:cNvPr>
          <p:cNvSpPr txBox="1"/>
          <p:nvPr/>
        </p:nvSpPr>
        <p:spPr>
          <a:xfrm>
            <a:off x="3863112" y="2308331"/>
            <a:ext cx="1155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/>
              <a:t>训练数据外动作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2FB9AB0-4D9F-4543-A90B-631814989508}"/>
              </a:ext>
            </a:extLst>
          </p:cNvPr>
          <p:cNvSpPr txBox="1"/>
          <p:nvPr/>
        </p:nvSpPr>
        <p:spPr>
          <a:xfrm>
            <a:off x="2434650" y="2313802"/>
            <a:ext cx="1529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/>
              <a:t>训练数据动作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6136A6D-7CAA-6E4C-AEB5-363675CFC8E7}"/>
              </a:ext>
            </a:extLst>
          </p:cNvPr>
          <p:cNvSpPr txBox="1"/>
          <p:nvPr/>
        </p:nvSpPr>
        <p:spPr>
          <a:xfrm>
            <a:off x="2487961" y="1293214"/>
            <a:ext cx="26870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/>
              <a:t>重建人体</a:t>
            </a:r>
            <a:r>
              <a:rPr lang="zh-CN" altLang="en-US" sz="1050" b="1" dirty="0">
                <a:solidFill>
                  <a:srgbClr val="0070C0"/>
                </a:solidFill>
              </a:rPr>
              <a:t>驱动泛化性差</a:t>
            </a:r>
            <a:r>
              <a:rPr lang="zh-CN" altLang="en-US" sz="1050" b="1" dirty="0"/>
              <a:t>，存在</a:t>
            </a:r>
            <a:r>
              <a:rPr lang="zh-CN" altLang="en-US" sz="1050" b="1" dirty="0">
                <a:solidFill>
                  <a:srgbClr val="0070C0"/>
                </a:solidFill>
              </a:rPr>
              <a:t>几何失真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488CCFDD-F82E-7647-A12A-1A5E92A73A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6297" y="1536968"/>
            <a:ext cx="659378" cy="944568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46A31CC4-28CA-634E-8FE5-7BF8498F49A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256"/>
          <a:stretch/>
        </p:blipFill>
        <p:spPr>
          <a:xfrm>
            <a:off x="6490490" y="1543649"/>
            <a:ext cx="1202088" cy="919377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195B64BB-1EA8-3440-B0FC-3A14A1618FBD}"/>
              </a:ext>
            </a:extLst>
          </p:cNvPr>
          <p:cNvSpPr txBox="1"/>
          <p:nvPr/>
        </p:nvSpPr>
        <p:spPr>
          <a:xfrm>
            <a:off x="5905907" y="1738460"/>
            <a:ext cx="54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900" b="1" dirty="0"/>
              <a:t>参数化</a:t>
            </a:r>
            <a:endParaRPr kumimoji="1" lang="en-US" altLang="zh-CN" sz="900" b="1" dirty="0"/>
          </a:p>
          <a:p>
            <a:pPr algn="ctr"/>
            <a:r>
              <a:rPr kumimoji="1" lang="zh-CN" altLang="en-US" sz="900" b="1" dirty="0"/>
              <a:t>重建</a:t>
            </a:r>
          </a:p>
        </p:txBody>
      </p:sp>
      <p:sp>
        <p:nvSpPr>
          <p:cNvPr id="70" name="下箭头 69">
            <a:extLst>
              <a:ext uri="{FF2B5EF4-FFF2-40B4-BE49-F238E27FC236}">
                <a16:creationId xmlns:a16="http://schemas.microsoft.com/office/drawing/2014/main" id="{53485B54-9D04-EB4B-82DB-CC7AD7CE2F20}"/>
              </a:ext>
            </a:extLst>
          </p:cNvPr>
          <p:cNvSpPr/>
          <p:nvPr/>
        </p:nvSpPr>
        <p:spPr>
          <a:xfrm rot="16200000">
            <a:off x="6104843" y="1864373"/>
            <a:ext cx="144384" cy="50853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D35A040-5217-A34D-AAF5-3B65A4BD815C}"/>
              </a:ext>
            </a:extLst>
          </p:cNvPr>
          <p:cNvSpPr txBox="1"/>
          <p:nvPr/>
        </p:nvSpPr>
        <p:spPr>
          <a:xfrm>
            <a:off x="5237709" y="1301561"/>
            <a:ext cx="24319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/>
              <a:t>生成服装</a:t>
            </a:r>
            <a:r>
              <a:rPr lang="zh-CN" altLang="en-US" sz="1050" b="1" dirty="0">
                <a:solidFill>
                  <a:srgbClr val="0070C0"/>
                </a:solidFill>
              </a:rPr>
              <a:t>结构不一致</a:t>
            </a:r>
            <a:r>
              <a:rPr lang="zh-CN" altLang="en-US" sz="1050" b="1" dirty="0"/>
              <a:t>，与</a:t>
            </a:r>
            <a:r>
              <a:rPr lang="zh-CN" altLang="en-US" sz="1050" b="1" dirty="0">
                <a:solidFill>
                  <a:srgbClr val="0070C0"/>
                </a:solidFill>
              </a:rPr>
              <a:t>体型不适配</a:t>
            </a:r>
          </a:p>
        </p:txBody>
      </p:sp>
      <p:sp>
        <p:nvSpPr>
          <p:cNvPr id="72" name="下箭头 71">
            <a:extLst>
              <a:ext uri="{FF2B5EF4-FFF2-40B4-BE49-F238E27FC236}">
                <a16:creationId xmlns:a16="http://schemas.microsoft.com/office/drawing/2014/main" id="{9A376092-B53E-DC40-B6A3-17CAC7B5C9A8}"/>
              </a:ext>
            </a:extLst>
          </p:cNvPr>
          <p:cNvSpPr/>
          <p:nvPr/>
        </p:nvSpPr>
        <p:spPr>
          <a:xfrm>
            <a:off x="3673838" y="3076461"/>
            <a:ext cx="175767" cy="182722"/>
          </a:xfrm>
          <a:prstGeom prst="downArrow">
            <a:avLst>
              <a:gd name="adj1" fmla="val 50000"/>
              <a:gd name="adj2" fmla="val 4737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73" name="下箭头 72">
            <a:extLst>
              <a:ext uri="{FF2B5EF4-FFF2-40B4-BE49-F238E27FC236}">
                <a16:creationId xmlns:a16="http://schemas.microsoft.com/office/drawing/2014/main" id="{6074CDF8-E927-BD47-A4B3-403B8CBA072C}"/>
              </a:ext>
            </a:extLst>
          </p:cNvPr>
          <p:cNvSpPr/>
          <p:nvPr/>
        </p:nvSpPr>
        <p:spPr>
          <a:xfrm>
            <a:off x="6287556" y="3079470"/>
            <a:ext cx="178412" cy="18132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74" name="下箭头 73">
            <a:extLst>
              <a:ext uri="{FF2B5EF4-FFF2-40B4-BE49-F238E27FC236}">
                <a16:creationId xmlns:a16="http://schemas.microsoft.com/office/drawing/2014/main" id="{1D3C13F8-AF39-2244-9678-917DAB605FBA}"/>
              </a:ext>
            </a:extLst>
          </p:cNvPr>
          <p:cNvSpPr/>
          <p:nvPr/>
        </p:nvSpPr>
        <p:spPr>
          <a:xfrm>
            <a:off x="3673838" y="4625736"/>
            <a:ext cx="175767" cy="182722"/>
          </a:xfrm>
          <a:prstGeom prst="downArrow">
            <a:avLst>
              <a:gd name="adj1" fmla="val 50000"/>
              <a:gd name="adj2" fmla="val 4737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75" name="下箭头 74">
            <a:extLst>
              <a:ext uri="{FF2B5EF4-FFF2-40B4-BE49-F238E27FC236}">
                <a16:creationId xmlns:a16="http://schemas.microsoft.com/office/drawing/2014/main" id="{D0026BFE-B252-EF47-9E7F-2038DAE419E0}"/>
              </a:ext>
            </a:extLst>
          </p:cNvPr>
          <p:cNvSpPr/>
          <p:nvPr/>
        </p:nvSpPr>
        <p:spPr>
          <a:xfrm>
            <a:off x="6287556" y="4623706"/>
            <a:ext cx="178412" cy="18132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7208A9-1A74-CF43-AD09-DA0307701D2F}"/>
              </a:ext>
            </a:extLst>
          </p:cNvPr>
          <p:cNvSpPr/>
          <p:nvPr/>
        </p:nvSpPr>
        <p:spPr>
          <a:xfrm>
            <a:off x="2577241" y="3795612"/>
            <a:ext cx="902376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动态变化难建模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79E7011-013C-AE4F-984C-33A798566EF5}"/>
              </a:ext>
            </a:extLst>
          </p:cNvPr>
          <p:cNvSpPr/>
          <p:nvPr/>
        </p:nvSpPr>
        <p:spPr>
          <a:xfrm>
            <a:off x="2577241" y="4147664"/>
            <a:ext cx="902376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拓扑网格易退化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F86F938-1854-1E4B-840C-ECE860216C14}"/>
              </a:ext>
            </a:extLst>
          </p:cNvPr>
          <p:cNvSpPr/>
          <p:nvPr/>
        </p:nvSpPr>
        <p:spPr>
          <a:xfrm>
            <a:off x="3793634" y="3798700"/>
            <a:ext cx="1209169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解析式三维高斯</a:t>
            </a:r>
            <a:endParaRPr kumimoji="1" lang="en-US" altLang="zh-CN" sz="800" b="1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绑定策略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511AF8B-EEAB-DF43-B410-88177D1480D1}"/>
              </a:ext>
            </a:extLst>
          </p:cNvPr>
          <p:cNvSpPr/>
          <p:nvPr/>
        </p:nvSpPr>
        <p:spPr>
          <a:xfrm>
            <a:off x="3793634" y="4162897"/>
            <a:ext cx="1209169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三角等边正则</a:t>
            </a:r>
            <a:endParaRPr kumimoji="1" lang="en-US" altLang="zh-CN" sz="800" b="1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约束项</a:t>
            </a:r>
          </a:p>
        </p:txBody>
      </p:sp>
      <p:sp>
        <p:nvSpPr>
          <p:cNvPr id="81" name="下箭头 80">
            <a:extLst>
              <a:ext uri="{FF2B5EF4-FFF2-40B4-BE49-F238E27FC236}">
                <a16:creationId xmlns:a16="http://schemas.microsoft.com/office/drawing/2014/main" id="{2B863901-6E17-A043-B86D-675F213AD44E}"/>
              </a:ext>
            </a:extLst>
          </p:cNvPr>
          <p:cNvSpPr/>
          <p:nvPr/>
        </p:nvSpPr>
        <p:spPr>
          <a:xfrm rot="16200000">
            <a:off x="3571833" y="3835028"/>
            <a:ext cx="129390" cy="234366"/>
          </a:xfrm>
          <a:prstGeom prst="downArrow">
            <a:avLst>
              <a:gd name="adj1" fmla="val 50000"/>
              <a:gd name="adj2" fmla="val 4737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82" name="下箭头 81">
            <a:extLst>
              <a:ext uri="{FF2B5EF4-FFF2-40B4-BE49-F238E27FC236}">
                <a16:creationId xmlns:a16="http://schemas.microsoft.com/office/drawing/2014/main" id="{E97E1BC8-273A-EE4A-BDB0-567BB1DA236B}"/>
              </a:ext>
            </a:extLst>
          </p:cNvPr>
          <p:cNvSpPr/>
          <p:nvPr/>
        </p:nvSpPr>
        <p:spPr>
          <a:xfrm rot="16200000">
            <a:off x="3575772" y="4173542"/>
            <a:ext cx="123711" cy="232162"/>
          </a:xfrm>
          <a:prstGeom prst="downArrow">
            <a:avLst>
              <a:gd name="adj1" fmla="val 50000"/>
              <a:gd name="adj2" fmla="val 4737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46EC99B-426C-E348-ACFE-349B84A5936D}"/>
              </a:ext>
            </a:extLst>
          </p:cNvPr>
          <p:cNvSpPr txBox="1"/>
          <p:nvPr/>
        </p:nvSpPr>
        <p:spPr>
          <a:xfrm>
            <a:off x="2747856" y="4414366"/>
            <a:ext cx="4831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rgbClr val="0070C0"/>
                </a:solidFill>
              </a:rPr>
              <a:t>难点</a:t>
            </a:r>
            <a:endParaRPr lang="zh-CN" altLang="en-US" sz="9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D0836B4-0C73-814D-9EE3-22D92728B19B}"/>
              </a:ext>
            </a:extLst>
          </p:cNvPr>
          <p:cNvSpPr txBox="1"/>
          <p:nvPr/>
        </p:nvSpPr>
        <p:spPr>
          <a:xfrm>
            <a:off x="4133189" y="4414366"/>
            <a:ext cx="4831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rgbClr val="0070C0"/>
                </a:solidFill>
              </a:rPr>
              <a:t>方案</a:t>
            </a:r>
            <a:endParaRPr lang="zh-CN" altLang="en-US" sz="900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839E27A-1384-754D-A9F0-312138D948E2}"/>
              </a:ext>
            </a:extLst>
          </p:cNvPr>
          <p:cNvSpPr/>
          <p:nvPr/>
        </p:nvSpPr>
        <p:spPr>
          <a:xfrm>
            <a:off x="5270659" y="3800061"/>
            <a:ext cx="897241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服装尺寸难适配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8ECF57E-8AC7-5D42-B0A0-6E56E8C724CD}"/>
              </a:ext>
            </a:extLst>
          </p:cNvPr>
          <p:cNvSpPr/>
          <p:nvPr/>
        </p:nvSpPr>
        <p:spPr>
          <a:xfrm>
            <a:off x="5275410" y="4154012"/>
            <a:ext cx="904465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参数推理效率低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DE815C7-11B0-2648-B0BB-7779B2EC895B}"/>
              </a:ext>
            </a:extLst>
          </p:cNvPr>
          <p:cNvSpPr/>
          <p:nvPr/>
        </p:nvSpPr>
        <p:spPr>
          <a:xfrm>
            <a:off x="6525779" y="3808694"/>
            <a:ext cx="1154090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融合</a:t>
            </a:r>
            <a:r>
              <a:rPr kumimoji="1" lang="en-US" altLang="zh-CN" sz="800" b="1" dirty="0">
                <a:solidFill>
                  <a:schemeClr val="tx1"/>
                </a:solidFill>
              </a:rPr>
              <a:t>SMPL</a:t>
            </a:r>
            <a:r>
              <a:rPr kumimoji="1" lang="zh-CN" altLang="en-US" sz="800" b="1" dirty="0">
                <a:solidFill>
                  <a:schemeClr val="tx1"/>
                </a:solidFill>
              </a:rPr>
              <a:t>拓扑的</a:t>
            </a:r>
            <a:endParaRPr kumimoji="1" lang="en-US" altLang="zh-CN" sz="800" b="1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测量先验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BC6D0C2-E940-BA47-8247-3D682E830307}"/>
              </a:ext>
            </a:extLst>
          </p:cNvPr>
          <p:cNvSpPr/>
          <p:nvPr/>
        </p:nvSpPr>
        <p:spPr>
          <a:xfrm>
            <a:off x="6525779" y="4160797"/>
            <a:ext cx="1154090" cy="288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服装设计参数</a:t>
            </a:r>
            <a:endParaRPr kumimoji="1" lang="en-US" altLang="zh-CN" sz="800" b="1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800" b="1" dirty="0">
                <a:solidFill>
                  <a:schemeClr val="tx1"/>
                </a:solidFill>
              </a:rPr>
              <a:t>紧凑重表示</a:t>
            </a:r>
          </a:p>
        </p:txBody>
      </p:sp>
      <p:sp>
        <p:nvSpPr>
          <p:cNvPr id="99" name="下箭头 98">
            <a:extLst>
              <a:ext uri="{FF2B5EF4-FFF2-40B4-BE49-F238E27FC236}">
                <a16:creationId xmlns:a16="http://schemas.microsoft.com/office/drawing/2014/main" id="{6D1FF03A-0899-3E48-94D0-78EBCB2FF4F5}"/>
              </a:ext>
            </a:extLst>
          </p:cNvPr>
          <p:cNvSpPr/>
          <p:nvPr/>
        </p:nvSpPr>
        <p:spPr>
          <a:xfrm rot="16200000">
            <a:off x="6285935" y="3826157"/>
            <a:ext cx="129390" cy="237501"/>
          </a:xfrm>
          <a:prstGeom prst="downArrow">
            <a:avLst>
              <a:gd name="adj1" fmla="val 50000"/>
              <a:gd name="adj2" fmla="val 4737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100" name="下箭头 99">
            <a:extLst>
              <a:ext uri="{FF2B5EF4-FFF2-40B4-BE49-F238E27FC236}">
                <a16:creationId xmlns:a16="http://schemas.microsoft.com/office/drawing/2014/main" id="{F7BE6879-AE2C-2C46-92AA-204F3536547A}"/>
              </a:ext>
            </a:extLst>
          </p:cNvPr>
          <p:cNvSpPr/>
          <p:nvPr/>
        </p:nvSpPr>
        <p:spPr>
          <a:xfrm rot="16200000">
            <a:off x="6290971" y="4174385"/>
            <a:ext cx="123711" cy="237498"/>
          </a:xfrm>
          <a:prstGeom prst="downArrow">
            <a:avLst>
              <a:gd name="adj1" fmla="val 50000"/>
              <a:gd name="adj2" fmla="val 4737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027C667-133C-0F4E-B08A-D9401D083F70}"/>
              </a:ext>
            </a:extLst>
          </p:cNvPr>
          <p:cNvSpPr txBox="1"/>
          <p:nvPr/>
        </p:nvSpPr>
        <p:spPr>
          <a:xfrm>
            <a:off x="5471629" y="4414366"/>
            <a:ext cx="4831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rgbClr val="0070C0"/>
                </a:solidFill>
              </a:rPr>
              <a:t>难点</a:t>
            </a:r>
            <a:endParaRPr lang="zh-CN" altLang="en-US" sz="90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BDD6749-1472-F241-AE10-90C6B2E1E722}"/>
              </a:ext>
            </a:extLst>
          </p:cNvPr>
          <p:cNvSpPr txBox="1"/>
          <p:nvPr/>
        </p:nvSpPr>
        <p:spPr>
          <a:xfrm>
            <a:off x="6809859" y="4414366"/>
            <a:ext cx="4831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rgbClr val="0070C0"/>
                </a:solidFill>
              </a:rPr>
              <a:t>方案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4180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146</Words>
  <Application>Microsoft Macintosh PowerPoint</Application>
  <PresentationFormat>宽屏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117</cp:revision>
  <dcterms:created xsi:type="dcterms:W3CDTF">2026-03-03T15:39:58Z</dcterms:created>
  <dcterms:modified xsi:type="dcterms:W3CDTF">2026-04-12T05:40:30Z</dcterms:modified>
</cp:coreProperties>
</file>