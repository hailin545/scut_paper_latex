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70"/>
    <p:restoredTop sz="94917"/>
  </p:normalViewPr>
  <p:slideViewPr>
    <p:cSldViewPr snapToGrid="0" snapToObjects="1">
      <p:cViewPr>
        <p:scale>
          <a:sx n="227" d="100"/>
          <a:sy n="227" d="100"/>
        </p:scale>
        <p:origin x="112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782C55-8139-2444-BC47-4E85BBC54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BC5B759-C242-6B4B-B312-C39FEADB44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B491ED-7A2B-DA43-AF85-B39EF3642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DCCC9D-600A-2F47-AD14-5F52BCF6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93F696-14E1-8E40-9030-1361C7C7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2021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62A7C1-D668-EA41-8031-3A0C928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AF67FB-1A45-5048-9661-CEC231FA1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1A41CB-6C7B-8E40-81C5-2FC268C1C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860A9E-441D-5043-B0A4-37C0618F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D9A79-79E1-A544-9A6C-97400CDE2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2714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D31AA-53C9-BC44-8534-5194DAD3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83C96A-06A9-174D-9F60-2ECDAED7AB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5A170-22B9-BC42-8559-3F13B0AF2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293B53-D306-8348-ACFA-1B9DCEDEC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B7CF95-B509-F04C-BBC0-12F6482E2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930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03E1C1-5959-2843-9366-CC04A465B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90027-DBA1-0947-B7E6-E0446CC32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D7CA77-A461-254A-AD59-79A048CCAD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C0DD47A-63E2-3F4A-BEE4-A5B68FEA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14E9DF-D32E-B940-BEC9-653F5EF66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6B226E-CFE9-0B45-BC70-F9444BEE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9568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125C9B-DFF8-294D-AE13-44FE077D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883FA5-E4F0-D441-A4B3-3CFA013D0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032A5A-BAFE-C240-8DA5-B99ABD3A8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DDC06F4-672A-B94F-8E8D-C3F3F5957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8838DC3-A5E3-754F-A702-5FC95306AB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329BB34-F0F7-A840-B2AC-4E594C2E9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C343318-40C6-7145-8689-38314F0EA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CCD60E-8033-9941-8507-4810D1E7D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1088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39D1-E8A6-684F-B80C-AD18EB2D4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82016E-535B-1343-BB11-95F36625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D395B5-7BB7-FE47-8F02-E1BB00F82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F5594DD-3814-5D4E-8D8B-A269CCD64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202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C4014CC-B868-6442-A86C-96E17A8F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998723-E720-B94B-BA82-21DBBF765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F7B7C8-66EA-4D47-9BEB-958F5B061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4077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3C2FD-509C-2E4C-9825-93FB35A9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BA3C74-8D85-1E43-82EF-238550EEC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696A2E-20F8-6145-8FBD-8552932B2B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4A9C5FC-1C5F-EE4E-9C53-FE5F44B52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97060B-90A1-204A-B50B-0DD6BFDBF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C8FC30-CCF6-2941-A591-F6ADBBC3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734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96EC58-6FC4-9B41-836F-00462BEE4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930DF2-30F6-7544-9C08-3BDE784BA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41647B-D3EA-3644-AA7A-BBC4AA0EF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6552D2-3159-9349-B452-8B56F5F3E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1EB720-FC10-F545-A2A6-E62987C12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EE7EAB-EE5C-1E44-8AE4-E00B6F86A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8770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6FBDCF-C812-8548-898B-21194860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CA518-A8EB-BE40-894E-3AFC39025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93058E-36ED-A04E-AFFD-4E8ADFFF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B9AF0B-8494-9642-BD9E-9009EE613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73043A-B654-5843-A95F-6C09903D8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9834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ED686-339F-0C40-B445-F423E3241E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A370AE-97E6-4E45-8FEE-7484BE3E4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A72886-B12F-0142-8691-15CED467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93450E-0B8E-5B41-B547-E9591123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04A2BA-E4B4-8546-ABB2-D880B00B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4324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EE6C8F5-2169-8F48-B99F-6FF69C6B1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B4B93E-B26D-5345-A02F-4CDBD4588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C8397-E8D5-2247-A4D9-ACB9F5835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469FB2-7BD2-D646-BFBD-5C1D555F6E84}" type="datetimeFigureOut">
              <a:rPr kumimoji="1" lang="zh-CN" altLang="en-US" smtClean="0"/>
              <a:t>2026/3/29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4A7C66-1344-5842-A5E5-EB87C46D8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22F885-70FD-A34C-8875-9E6083FC46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00151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1B9B00-E679-5C41-86AD-C737D66603C6}"/>
              </a:ext>
            </a:extLst>
          </p:cNvPr>
          <p:cNvSpPr/>
          <p:nvPr/>
        </p:nvSpPr>
        <p:spPr>
          <a:xfrm>
            <a:off x="2513273" y="729093"/>
            <a:ext cx="6756722" cy="43926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基于几何先验的三维人体重建与服装生成方法研究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393ACC-2B3D-7F4F-AD4A-044CA23FE5BA}"/>
              </a:ext>
            </a:extLst>
          </p:cNvPr>
          <p:cNvSpPr/>
          <p:nvPr/>
        </p:nvSpPr>
        <p:spPr>
          <a:xfrm>
            <a:off x="2516627" y="1308076"/>
            <a:ext cx="3349379" cy="956116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84BE2BC-AAC4-3A49-B74B-0D1D2E7379DA}"/>
              </a:ext>
            </a:extLst>
          </p:cNvPr>
          <p:cNvSpPr txBox="1"/>
          <p:nvPr/>
        </p:nvSpPr>
        <p:spPr>
          <a:xfrm>
            <a:off x="1917699" y="1446464"/>
            <a:ext cx="543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问题</a:t>
            </a:r>
            <a:endParaRPr kumimoji="1" lang="en-US" altLang="zh-CN" sz="1400" dirty="0">
              <a:solidFill>
                <a:srgbClr val="002060"/>
              </a:solidFill>
            </a:endParaRPr>
          </a:p>
          <a:p>
            <a:r>
              <a:rPr kumimoji="1" lang="zh-CN" altLang="en-US" sz="1400" dirty="0">
                <a:solidFill>
                  <a:srgbClr val="002060"/>
                </a:solidFill>
              </a:rPr>
              <a:t>挑战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98392B-9571-374C-AD46-ED0709A7F7A2}"/>
              </a:ext>
            </a:extLst>
          </p:cNvPr>
          <p:cNvSpPr/>
          <p:nvPr/>
        </p:nvSpPr>
        <p:spPr>
          <a:xfrm>
            <a:off x="2516626" y="1308075"/>
            <a:ext cx="3349379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人体驱动时存在几何不一致性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B89BCB-96A7-F043-80A7-601B497E868C}"/>
              </a:ext>
            </a:extLst>
          </p:cNvPr>
          <p:cNvSpPr txBox="1"/>
          <p:nvPr/>
        </p:nvSpPr>
        <p:spPr>
          <a:xfrm>
            <a:off x="2605322" y="1725146"/>
            <a:ext cx="316041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现有3DGS人体方法中高斯为无约束优化，与底层网格拓扑无关联，导致</a:t>
            </a:r>
            <a:r>
              <a:rPr lang="zh-CN" altLang="en-US" sz="1200" b="1" dirty="0"/>
              <a:t>驱动泛化性差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57DD94-4954-BF43-B48A-41C650F63B56}"/>
              </a:ext>
            </a:extLst>
          </p:cNvPr>
          <p:cNvSpPr/>
          <p:nvPr/>
        </p:nvSpPr>
        <p:spPr>
          <a:xfrm>
            <a:off x="5988517" y="1310126"/>
            <a:ext cx="3284834" cy="956116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A406CE-C199-8146-9772-97C416362250}"/>
              </a:ext>
            </a:extLst>
          </p:cNvPr>
          <p:cNvSpPr/>
          <p:nvPr/>
        </p:nvSpPr>
        <p:spPr>
          <a:xfrm>
            <a:off x="5988516" y="1308075"/>
            <a:ext cx="3284833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服装生成缺乏人体几何感知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C18C682-CA5B-3E4E-8FBB-9B3D8D8A8FDF}"/>
              </a:ext>
            </a:extLst>
          </p:cNvPr>
          <p:cNvSpPr txBox="1"/>
          <p:nvPr/>
        </p:nvSpPr>
        <p:spPr>
          <a:xfrm>
            <a:off x="6023028" y="1752139"/>
            <a:ext cx="3235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现有方法仅凭图像预测服装参数，缺乏穿着者的显式几何约束，生成</a:t>
            </a:r>
            <a:r>
              <a:rPr lang="zh-CN" altLang="en-US" sz="1200" b="1" dirty="0"/>
              <a:t>服装几何结构失真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F2C1C8-152A-4A4B-975E-0B0A305CDE75}"/>
              </a:ext>
            </a:extLst>
          </p:cNvPr>
          <p:cNvSpPr txBox="1"/>
          <p:nvPr/>
        </p:nvSpPr>
        <p:spPr>
          <a:xfrm>
            <a:off x="1895259" y="2474497"/>
            <a:ext cx="543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研究思路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B436BA9-BD19-0D44-94E4-6CABAD57EF37}"/>
              </a:ext>
            </a:extLst>
          </p:cNvPr>
          <p:cNvSpPr txBox="1"/>
          <p:nvPr/>
        </p:nvSpPr>
        <p:spPr>
          <a:xfrm>
            <a:off x="1895260" y="3643378"/>
            <a:ext cx="543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研究内容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81880DE-CE26-C944-8830-B479173C0A17}"/>
              </a:ext>
            </a:extLst>
          </p:cNvPr>
          <p:cNvSpPr txBox="1"/>
          <p:nvPr/>
        </p:nvSpPr>
        <p:spPr>
          <a:xfrm>
            <a:off x="1895259" y="4796569"/>
            <a:ext cx="543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目标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9FAB68-41C5-F643-B9EC-D8A9F8D3BF11}"/>
              </a:ext>
            </a:extLst>
          </p:cNvPr>
          <p:cNvSpPr/>
          <p:nvPr/>
        </p:nvSpPr>
        <p:spPr>
          <a:xfrm>
            <a:off x="2513239" y="3223032"/>
            <a:ext cx="3344576" cy="133257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1C3218C-46B2-9E4D-B09A-FCEDD9869CB3}"/>
              </a:ext>
            </a:extLst>
          </p:cNvPr>
          <p:cNvSpPr/>
          <p:nvPr/>
        </p:nvSpPr>
        <p:spPr>
          <a:xfrm>
            <a:off x="2513237" y="3215857"/>
            <a:ext cx="3349414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基于拓扑绑定的三维高斯人体重建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5D0B37-0A39-954A-B868-84049DCAE970}"/>
              </a:ext>
            </a:extLst>
          </p:cNvPr>
          <p:cNvSpPr/>
          <p:nvPr/>
        </p:nvSpPr>
        <p:spPr>
          <a:xfrm>
            <a:off x="6046418" y="3223031"/>
            <a:ext cx="3223576" cy="133257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07A842C-0FEF-9048-ABCF-9BF35EE6971B}"/>
              </a:ext>
            </a:extLst>
          </p:cNvPr>
          <p:cNvSpPr/>
          <p:nvPr/>
        </p:nvSpPr>
        <p:spPr>
          <a:xfrm>
            <a:off x="6046419" y="3220981"/>
            <a:ext cx="3223576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基于人体测量先验的服装参数生成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23837E-683C-A747-BCD5-B0CFAE970554}"/>
              </a:ext>
            </a:extLst>
          </p:cNvPr>
          <p:cNvSpPr/>
          <p:nvPr/>
        </p:nvSpPr>
        <p:spPr>
          <a:xfrm>
            <a:off x="2599439" y="3930042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解析式三维高斯绑定策略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309BC6A-202D-9146-939E-A6B7B1FEB7C9}"/>
              </a:ext>
            </a:extLst>
          </p:cNvPr>
          <p:cNvSpPr/>
          <p:nvPr/>
        </p:nvSpPr>
        <p:spPr>
          <a:xfrm>
            <a:off x="2599439" y="4215797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三角等边正则约束项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86F6E39-1FED-6347-A818-34B706834A14}"/>
              </a:ext>
            </a:extLst>
          </p:cNvPr>
          <p:cNvSpPr txBox="1"/>
          <p:nvPr/>
        </p:nvSpPr>
        <p:spPr>
          <a:xfrm>
            <a:off x="1895259" y="5398265"/>
            <a:ext cx="543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400" dirty="0">
                <a:solidFill>
                  <a:srgbClr val="002060"/>
                </a:solidFill>
              </a:rPr>
              <a:t>应用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9F3AFC4-DABA-F541-B97C-D4E0DD45FF6B}"/>
              </a:ext>
            </a:extLst>
          </p:cNvPr>
          <p:cNvSpPr/>
          <p:nvPr/>
        </p:nvSpPr>
        <p:spPr>
          <a:xfrm>
            <a:off x="2499495" y="4782390"/>
            <a:ext cx="3300052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提高人体几何重建的质量与驱动泛化性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53E3A8-3A33-CB41-8B8F-95F8185207D7}"/>
              </a:ext>
            </a:extLst>
          </p:cNvPr>
          <p:cNvSpPr/>
          <p:nvPr/>
        </p:nvSpPr>
        <p:spPr>
          <a:xfrm>
            <a:off x="6042162" y="4786878"/>
            <a:ext cx="3223576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提高服装参数生成的准确度与效率</a:t>
            </a:r>
          </a:p>
        </p:txBody>
      </p:sp>
      <p:sp>
        <p:nvSpPr>
          <p:cNvPr id="2" name="下箭头 1">
            <a:extLst>
              <a:ext uri="{FF2B5EF4-FFF2-40B4-BE49-F238E27FC236}">
                <a16:creationId xmlns:a16="http://schemas.microsoft.com/office/drawing/2014/main" id="{B962EC26-32C1-FC42-8C36-D37DC5D8C4FF}"/>
              </a:ext>
            </a:extLst>
          </p:cNvPr>
          <p:cNvSpPr/>
          <p:nvPr/>
        </p:nvSpPr>
        <p:spPr>
          <a:xfrm>
            <a:off x="4019744" y="2294984"/>
            <a:ext cx="259553" cy="269656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9" name="下箭头 28">
            <a:extLst>
              <a:ext uri="{FF2B5EF4-FFF2-40B4-BE49-F238E27FC236}">
                <a16:creationId xmlns:a16="http://schemas.microsoft.com/office/drawing/2014/main" id="{DEB98004-A16A-BC49-A85C-3E19B2EDB0AC}"/>
              </a:ext>
            </a:extLst>
          </p:cNvPr>
          <p:cNvSpPr/>
          <p:nvPr/>
        </p:nvSpPr>
        <p:spPr>
          <a:xfrm>
            <a:off x="7589089" y="2313339"/>
            <a:ext cx="259553" cy="269656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" name="下箭头 30">
            <a:extLst>
              <a:ext uri="{FF2B5EF4-FFF2-40B4-BE49-F238E27FC236}">
                <a16:creationId xmlns:a16="http://schemas.microsoft.com/office/drawing/2014/main" id="{03EC22AE-378E-BD4E-8021-160D8A59F64E}"/>
              </a:ext>
            </a:extLst>
          </p:cNvPr>
          <p:cNvSpPr/>
          <p:nvPr/>
        </p:nvSpPr>
        <p:spPr>
          <a:xfrm>
            <a:off x="4014718" y="2997717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" name="下箭头 31">
            <a:extLst>
              <a:ext uri="{FF2B5EF4-FFF2-40B4-BE49-F238E27FC236}">
                <a16:creationId xmlns:a16="http://schemas.microsoft.com/office/drawing/2014/main" id="{CB211465-BE7A-694E-9FCC-CCED075A0606}"/>
              </a:ext>
            </a:extLst>
          </p:cNvPr>
          <p:cNvSpPr/>
          <p:nvPr/>
        </p:nvSpPr>
        <p:spPr>
          <a:xfrm>
            <a:off x="7592450" y="2997717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479F3E2-E958-3D4D-93EE-923E1DEF5168}"/>
              </a:ext>
            </a:extLst>
          </p:cNvPr>
          <p:cNvSpPr/>
          <p:nvPr/>
        </p:nvSpPr>
        <p:spPr>
          <a:xfrm>
            <a:off x="2513239" y="2595432"/>
            <a:ext cx="3349413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人体几何提供拓扑结构约束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5DAFCAF-6247-3C4F-8EA7-DBECB725F6D7}"/>
              </a:ext>
            </a:extLst>
          </p:cNvPr>
          <p:cNvSpPr/>
          <p:nvPr/>
        </p:nvSpPr>
        <p:spPr>
          <a:xfrm>
            <a:off x="6015789" y="2592244"/>
            <a:ext cx="3249949" cy="363849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人体几何提供测量信息先验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C40A0DA6-A11F-5345-B458-6A425514CD44}"/>
              </a:ext>
            </a:extLst>
          </p:cNvPr>
          <p:cNvSpPr txBox="1"/>
          <p:nvPr/>
        </p:nvSpPr>
        <p:spPr>
          <a:xfrm>
            <a:off x="4515903" y="2301244"/>
            <a:ext cx="26758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引入参数化人体几何先验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BE688C9-CB83-F447-BD34-8337B465A7E3}"/>
              </a:ext>
            </a:extLst>
          </p:cNvPr>
          <p:cNvSpPr/>
          <p:nvPr/>
        </p:nvSpPr>
        <p:spPr>
          <a:xfrm>
            <a:off x="2610908" y="3640342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可变形穿衣人网格表示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26EB1D6-45D7-AD4A-BA39-71A097F42B91}"/>
              </a:ext>
            </a:extLst>
          </p:cNvPr>
          <p:cNvSpPr/>
          <p:nvPr/>
        </p:nvSpPr>
        <p:spPr>
          <a:xfrm>
            <a:off x="6122394" y="3595644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人体测量先验自动化提取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6324C99D-4B2D-8A4F-A578-76E120F84167}"/>
              </a:ext>
            </a:extLst>
          </p:cNvPr>
          <p:cNvSpPr/>
          <p:nvPr/>
        </p:nvSpPr>
        <p:spPr>
          <a:xfrm>
            <a:off x="6122394" y="3893193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服装设计参数重表示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5AD9FF3D-7151-544F-A5F6-33508FBBABF4}"/>
              </a:ext>
            </a:extLst>
          </p:cNvPr>
          <p:cNvSpPr/>
          <p:nvPr/>
        </p:nvSpPr>
        <p:spPr>
          <a:xfrm>
            <a:off x="6122394" y="4221644"/>
            <a:ext cx="3090107" cy="288300"/>
          </a:xfrm>
          <a:prstGeom prst="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100" dirty="0">
                <a:solidFill>
                  <a:schemeClr val="tx1"/>
                </a:solidFill>
              </a:rPr>
              <a:t>几何先验驱动多模态推理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3804F8B-075A-9440-AC49-21C41680CC31}"/>
              </a:ext>
            </a:extLst>
          </p:cNvPr>
          <p:cNvSpPr/>
          <p:nvPr/>
        </p:nvSpPr>
        <p:spPr>
          <a:xfrm>
            <a:off x="2487582" y="5370230"/>
            <a:ext cx="6785768" cy="363849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构建高保真、可驱动的虚拟数字人体化身</a:t>
            </a:r>
          </a:p>
        </p:txBody>
      </p:sp>
      <p:sp>
        <p:nvSpPr>
          <p:cNvPr id="49" name="下箭头 48">
            <a:extLst>
              <a:ext uri="{FF2B5EF4-FFF2-40B4-BE49-F238E27FC236}">
                <a16:creationId xmlns:a16="http://schemas.microsoft.com/office/drawing/2014/main" id="{CB99CAA4-603A-604D-BBEB-7494B44D7157}"/>
              </a:ext>
            </a:extLst>
          </p:cNvPr>
          <p:cNvSpPr/>
          <p:nvPr/>
        </p:nvSpPr>
        <p:spPr>
          <a:xfrm>
            <a:off x="3954342" y="4577021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0" name="下箭头 49">
            <a:extLst>
              <a:ext uri="{FF2B5EF4-FFF2-40B4-BE49-F238E27FC236}">
                <a16:creationId xmlns:a16="http://schemas.microsoft.com/office/drawing/2014/main" id="{9ACFCC82-2543-ED46-9198-5CD1B6ED7CD4}"/>
              </a:ext>
            </a:extLst>
          </p:cNvPr>
          <p:cNvSpPr/>
          <p:nvPr/>
        </p:nvSpPr>
        <p:spPr>
          <a:xfrm>
            <a:off x="7589088" y="4580349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1" name="下箭头 50">
            <a:extLst>
              <a:ext uri="{FF2B5EF4-FFF2-40B4-BE49-F238E27FC236}">
                <a16:creationId xmlns:a16="http://schemas.microsoft.com/office/drawing/2014/main" id="{D2DBD368-CF9A-2A40-9C72-9C7428E2A52E}"/>
              </a:ext>
            </a:extLst>
          </p:cNvPr>
          <p:cNvSpPr/>
          <p:nvPr/>
        </p:nvSpPr>
        <p:spPr>
          <a:xfrm>
            <a:off x="7589088" y="5172160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2" name="下箭头 51">
            <a:extLst>
              <a:ext uri="{FF2B5EF4-FFF2-40B4-BE49-F238E27FC236}">
                <a16:creationId xmlns:a16="http://schemas.microsoft.com/office/drawing/2014/main" id="{A5C10013-B906-AC45-8FC9-739175F77079}"/>
              </a:ext>
            </a:extLst>
          </p:cNvPr>
          <p:cNvSpPr/>
          <p:nvPr/>
        </p:nvSpPr>
        <p:spPr>
          <a:xfrm>
            <a:off x="3954341" y="5172160"/>
            <a:ext cx="259553" cy="180790"/>
          </a:xfrm>
          <a:prstGeom prst="downArrow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8128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181</Words>
  <Application>Microsoft Macintosh PowerPoint</Application>
  <PresentationFormat>宽屏</PresentationFormat>
  <Paragraphs>25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39</cp:revision>
  <dcterms:created xsi:type="dcterms:W3CDTF">2026-03-03T15:39:58Z</dcterms:created>
  <dcterms:modified xsi:type="dcterms:W3CDTF">2026-03-29T08:55:56Z</dcterms:modified>
</cp:coreProperties>
</file>